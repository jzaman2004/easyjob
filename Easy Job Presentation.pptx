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8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48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0" y="508000"/>
            <a:ext cx="2032000" cy="2032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6000" y="6731000"/>
            <a:ext cx="1524000" cy="152400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05000" y="1524000"/>
            <a:ext cx="1016000" cy="1016000"/>
          </a:xfrm>
          <a:prstGeom prst="roundRect">
            <a:avLst>
              <a:gd name="adj" fmla="val 150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970000" y="6604000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1778000" y="238905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kern="0" spc="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Job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048000" y="3683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STEM-Focused Job Matchmaking Platform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223000" y="4381500"/>
            <a:ext cx="3810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3683000" y="4635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COM370-B01 | Adv. Computer Programming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13000" y="58674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Alish Pandey · Gauri Shrestha · Jawad Zaman · Srijana Shrestha · Nirvika Poudel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18000" y="660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Professor: Eleni Zamagias | May 6, 2026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9B27DC1-4A4A-4FC8-80EA-38159D59CDE3}"/>
              </a:ext>
            </a:extLst>
          </p:cNvPr>
          <p:cNvSpPr/>
          <p:nvPr/>
        </p:nvSpPr>
        <p:spPr>
          <a:xfrm>
            <a:off x="-11999865" y="1311730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08953AF-3442-E52F-58CC-835DF4D0799E}"/>
              </a:ext>
            </a:extLst>
          </p:cNvPr>
          <p:cNvSpPr/>
          <p:nvPr/>
        </p:nvSpPr>
        <p:spPr>
          <a:xfrm>
            <a:off x="-8697865" y="21036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A770EA1-3682-59C9-04D1-AF4D92A12F6A}"/>
              </a:ext>
            </a:extLst>
          </p:cNvPr>
          <p:cNvSpPr/>
          <p:nvPr/>
        </p:nvSpPr>
        <p:spPr>
          <a:xfrm>
            <a:off x="-10983864" y="2798082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Time-Consuming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Lengthy applications drain candidate energy</a:t>
            </a:r>
            <a:endParaRPr lang="en-US" sz="2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7B456DE-249A-9F4A-0AAE-961AB88CB33E}"/>
              </a:ext>
            </a:extLst>
          </p:cNvPr>
          <p:cNvSpPr/>
          <p:nvPr/>
        </p:nvSpPr>
        <p:spPr>
          <a:xfrm>
            <a:off x="20721990" y="1311730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7362322-8361-90F8-F016-BB08CFF99C4C}"/>
              </a:ext>
            </a:extLst>
          </p:cNvPr>
          <p:cNvSpPr/>
          <p:nvPr/>
        </p:nvSpPr>
        <p:spPr>
          <a:xfrm>
            <a:off x="24023990" y="21036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10BC01A-1D73-43DA-E15C-5EA056CC57ED}"/>
              </a:ext>
            </a:extLst>
          </p:cNvPr>
          <p:cNvSpPr/>
          <p:nvPr/>
        </p:nvSpPr>
        <p:spPr>
          <a:xfrm>
            <a:off x="21737991" y="2798082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Mismatched Roles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Expectations misaligned with reality</a:t>
            </a:r>
            <a:endParaRPr lang="en-US" sz="28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B26AB3F-64F5-839C-9B97-DE0E8B40AAB3}"/>
              </a:ext>
            </a:extLst>
          </p:cNvPr>
          <p:cNvSpPr/>
          <p:nvPr/>
        </p:nvSpPr>
        <p:spPr>
          <a:xfrm>
            <a:off x="-11999865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187A1B5-AD1F-04C5-40F8-8EB0A2951F8E}"/>
              </a:ext>
            </a:extLst>
          </p:cNvPr>
          <p:cNvSpPr/>
          <p:nvPr/>
        </p:nvSpPr>
        <p:spPr>
          <a:xfrm>
            <a:off x="-8697865" y="582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9688" y="47625"/>
                </a:moveTo>
                <a:cubicBezTo>
                  <a:pt x="26491" y="47625"/>
                  <a:pt x="15875" y="58241"/>
                  <a:pt x="15875" y="71438"/>
                </a:cubicBezTo>
                <a:lnTo>
                  <a:pt x="15875" y="119063"/>
                </a:lnTo>
                <a:cubicBezTo>
                  <a:pt x="15875" y="132259"/>
                  <a:pt x="26491" y="142875"/>
                  <a:pt x="39688" y="142875"/>
                </a:cubicBezTo>
                <a:lnTo>
                  <a:pt x="87313" y="142875"/>
                </a:lnTo>
                <a:cubicBezTo>
                  <a:pt x="100509" y="142875"/>
                  <a:pt x="111125" y="132259"/>
                  <a:pt x="111125" y="119063"/>
                </a:cubicBezTo>
                <a:lnTo>
                  <a:pt x="111125" y="71438"/>
                </a:lnTo>
                <a:cubicBezTo>
                  <a:pt x="111125" y="58241"/>
                  <a:pt x="100509" y="47625"/>
                  <a:pt x="87313" y="47625"/>
                </a:cubicBezTo>
                <a:lnTo>
                  <a:pt x="39688" y="47625"/>
                </a:lnTo>
                <a:close/>
                <a:moveTo>
                  <a:pt x="190500" y="63500"/>
                </a:moveTo>
                <a:cubicBezTo>
                  <a:pt x="172938" y="63500"/>
                  <a:pt x="158750" y="77688"/>
                  <a:pt x="158750" y="95250"/>
                </a:cubicBezTo>
                <a:cubicBezTo>
                  <a:pt x="158750" y="112812"/>
                  <a:pt x="172938" y="127000"/>
                  <a:pt x="190500" y="127000"/>
                </a:cubicBezTo>
                <a:lnTo>
                  <a:pt x="476250" y="127000"/>
                </a:lnTo>
                <a:cubicBezTo>
                  <a:pt x="493812" y="127000"/>
                  <a:pt x="508000" y="112812"/>
                  <a:pt x="508000" y="95250"/>
                </a:cubicBezTo>
                <a:cubicBezTo>
                  <a:pt x="508000" y="77688"/>
                  <a:pt x="493812" y="63500"/>
                  <a:pt x="476250" y="63500"/>
                </a:cubicBezTo>
                <a:lnTo>
                  <a:pt x="190500" y="63500"/>
                </a:lnTo>
                <a:close/>
                <a:moveTo>
                  <a:pt x="190500" y="222250"/>
                </a:moveTo>
                <a:cubicBezTo>
                  <a:pt x="172938" y="222250"/>
                  <a:pt x="158750" y="236438"/>
                  <a:pt x="158750" y="254000"/>
                </a:cubicBezTo>
                <a:cubicBezTo>
                  <a:pt x="158750" y="271562"/>
                  <a:pt x="172938" y="285750"/>
                  <a:pt x="190500" y="285750"/>
                </a:cubicBezTo>
                <a:lnTo>
                  <a:pt x="476250" y="285750"/>
                </a:lnTo>
                <a:cubicBezTo>
                  <a:pt x="493812" y="285750"/>
                  <a:pt x="508000" y="271562"/>
                  <a:pt x="508000" y="254000"/>
                </a:cubicBezTo>
                <a:cubicBezTo>
                  <a:pt x="508000" y="236438"/>
                  <a:pt x="493812" y="222250"/>
                  <a:pt x="476250" y="222250"/>
                </a:cubicBezTo>
                <a:lnTo>
                  <a:pt x="190500" y="222250"/>
                </a:lnTo>
                <a:close/>
                <a:moveTo>
                  <a:pt x="190500" y="381000"/>
                </a:moveTo>
                <a:cubicBezTo>
                  <a:pt x="172938" y="381000"/>
                  <a:pt x="158750" y="395188"/>
                  <a:pt x="158750" y="412750"/>
                </a:cubicBezTo>
                <a:cubicBezTo>
                  <a:pt x="158750" y="430312"/>
                  <a:pt x="172938" y="444500"/>
                  <a:pt x="190500" y="444500"/>
                </a:cubicBez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ubicBezTo>
                  <a:pt x="508000" y="395188"/>
                  <a:pt x="493812" y="381000"/>
                  <a:pt x="476250" y="381000"/>
                </a:cubicBezTo>
                <a:lnTo>
                  <a:pt x="190500" y="381000"/>
                </a:lnTo>
                <a:close/>
                <a:moveTo>
                  <a:pt x="15875" y="230188"/>
                </a:moveTo>
                <a:lnTo>
                  <a:pt x="15875" y="277813"/>
                </a:lnTo>
                <a:cubicBezTo>
                  <a:pt x="15875" y="291009"/>
                  <a:pt x="26491" y="301625"/>
                  <a:pt x="39688" y="301625"/>
                </a:cubicBezTo>
                <a:lnTo>
                  <a:pt x="87313" y="301625"/>
                </a:lnTo>
                <a:cubicBezTo>
                  <a:pt x="100509" y="301625"/>
                  <a:pt x="111125" y="291009"/>
                  <a:pt x="111125" y="277813"/>
                </a:cubicBezTo>
                <a:lnTo>
                  <a:pt x="111125" y="230188"/>
                </a:lnTo>
                <a:cubicBezTo>
                  <a:pt x="111125" y="216991"/>
                  <a:pt x="100509" y="206375"/>
                  <a:pt x="87313" y="206375"/>
                </a:cubicBezTo>
                <a:lnTo>
                  <a:pt x="39688" y="206375"/>
                </a:lnTo>
                <a:cubicBezTo>
                  <a:pt x="26491" y="206375"/>
                  <a:pt x="15875" y="216991"/>
                  <a:pt x="15875" y="230188"/>
                </a:cubicBezTo>
                <a:close/>
                <a:moveTo>
                  <a:pt x="39688" y="365125"/>
                </a:moveTo>
                <a:cubicBezTo>
                  <a:pt x="26491" y="365125"/>
                  <a:pt x="15875" y="375741"/>
                  <a:pt x="15875" y="388938"/>
                </a:cubicBezTo>
                <a:lnTo>
                  <a:pt x="15875" y="436563"/>
                </a:lnTo>
                <a:cubicBezTo>
                  <a:pt x="15875" y="449759"/>
                  <a:pt x="26491" y="460375"/>
                  <a:pt x="39688" y="460375"/>
                </a:cubicBezTo>
                <a:lnTo>
                  <a:pt x="87313" y="460375"/>
                </a:lnTo>
                <a:cubicBezTo>
                  <a:pt x="100509" y="460375"/>
                  <a:pt x="111125" y="449759"/>
                  <a:pt x="111125" y="436563"/>
                </a:cubicBezTo>
                <a:lnTo>
                  <a:pt x="111125" y="388938"/>
                </a:lnTo>
                <a:cubicBezTo>
                  <a:pt x="111125" y="375741"/>
                  <a:pt x="100509" y="365125"/>
                  <a:pt x="87313" y="365125"/>
                </a:cubicBezTo>
                <a:lnTo>
                  <a:pt x="39688" y="36512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BA9F8233-4DCE-6608-978C-2E3A0D7ADEB9}"/>
              </a:ext>
            </a:extLst>
          </p:cNvPr>
          <p:cNvSpPr/>
          <p:nvPr/>
        </p:nvSpPr>
        <p:spPr>
          <a:xfrm>
            <a:off x="-10983864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Overwhelming Boards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LinkedIn noise drowns relevant jobs</a:t>
            </a:r>
            <a:endParaRPr lang="en-US" sz="28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9555458B-75F4-A2B7-1BB1-FE1633F68F10}"/>
              </a:ext>
            </a:extLst>
          </p:cNvPr>
          <p:cNvSpPr/>
          <p:nvPr/>
        </p:nvSpPr>
        <p:spPr>
          <a:xfrm>
            <a:off x="20721990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DCFA2816-AF8F-D399-AF1A-BBC357EC1C15}"/>
              </a:ext>
            </a:extLst>
          </p:cNvPr>
          <p:cNvSpPr/>
          <p:nvPr/>
        </p:nvSpPr>
        <p:spPr>
          <a:xfrm>
            <a:off x="24023990" y="582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8951" y="63500"/>
                  <a:pt x="7342" y="71239"/>
                  <a:pt x="2381" y="83145"/>
                </a:cubicBezTo>
                <a:cubicBezTo>
                  <a:pt x="-2580" y="95052"/>
                  <a:pt x="198" y="108645"/>
                  <a:pt x="9327" y="117673"/>
                </a:cubicBezTo>
                <a:lnTo>
                  <a:pt x="190500" y="298946"/>
                </a:lnTo>
                <a:lnTo>
                  <a:pt x="190500" y="412750"/>
                </a:lnTo>
                <a:cubicBezTo>
                  <a:pt x="190500" y="421184"/>
                  <a:pt x="193873" y="429220"/>
                  <a:pt x="199827" y="435173"/>
                </a:cubicBezTo>
                <a:lnTo>
                  <a:pt x="263327" y="498673"/>
                </a:lnTo>
                <a:cubicBezTo>
                  <a:pt x="272455" y="507802"/>
                  <a:pt x="286048" y="510480"/>
                  <a:pt x="297954" y="505520"/>
                </a:cubicBezTo>
                <a:cubicBezTo>
                  <a:pt x="309860" y="500559"/>
                  <a:pt x="317500" y="489049"/>
                  <a:pt x="317500" y="476250"/>
                </a:cubicBezTo>
                <a:lnTo>
                  <a:pt x="317500" y="298946"/>
                </a:lnTo>
                <a:lnTo>
                  <a:pt x="498673" y="117773"/>
                </a:lnTo>
                <a:cubicBezTo>
                  <a:pt x="507802" y="108645"/>
                  <a:pt x="510480" y="95052"/>
                  <a:pt x="505520" y="83145"/>
                </a:cubicBezTo>
                <a:cubicBezTo>
                  <a:pt x="500559" y="71239"/>
                  <a:pt x="489049" y="63500"/>
                  <a:pt x="476250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A0B8D96-81B6-7B02-9F18-695712B15AB5}"/>
              </a:ext>
            </a:extLst>
          </p:cNvPr>
          <p:cNvSpPr/>
          <p:nvPr/>
        </p:nvSpPr>
        <p:spPr>
          <a:xfrm>
            <a:off x="21737991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Filtering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Handshake lacks advanced search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3">
            <a:extLst>
              <a:ext uri="{FF2B5EF4-FFF2-40B4-BE49-F238E27FC236}">
                <a16:creationId xmlns:a16="http://schemas.microsoft.com/office/drawing/2014/main" id="{323F4758-0C5B-49EB-31F2-E28E069F3572}"/>
              </a:ext>
            </a:extLst>
          </p:cNvPr>
          <p:cNvSpPr/>
          <p:nvPr/>
        </p:nvSpPr>
        <p:spPr>
          <a:xfrm>
            <a:off x="7365998" y="5923722"/>
            <a:ext cx="508001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 in STEM Hiring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3999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69541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4000" y="246147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78001" y="3155893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Time-Consuming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Lengthy applications drain candidate energy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128000" y="1669541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0" y="246147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1" y="3155893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Mismatched Roles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Expectations misaligned with reality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64000" y="582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9688" y="47625"/>
                </a:moveTo>
                <a:cubicBezTo>
                  <a:pt x="26491" y="47625"/>
                  <a:pt x="15875" y="58241"/>
                  <a:pt x="15875" y="71438"/>
                </a:cubicBezTo>
                <a:lnTo>
                  <a:pt x="15875" y="119063"/>
                </a:lnTo>
                <a:cubicBezTo>
                  <a:pt x="15875" y="132259"/>
                  <a:pt x="26491" y="142875"/>
                  <a:pt x="39688" y="142875"/>
                </a:cubicBezTo>
                <a:lnTo>
                  <a:pt x="87313" y="142875"/>
                </a:lnTo>
                <a:cubicBezTo>
                  <a:pt x="100509" y="142875"/>
                  <a:pt x="111125" y="132259"/>
                  <a:pt x="111125" y="119063"/>
                </a:cubicBezTo>
                <a:lnTo>
                  <a:pt x="111125" y="71438"/>
                </a:lnTo>
                <a:cubicBezTo>
                  <a:pt x="111125" y="58241"/>
                  <a:pt x="100509" y="47625"/>
                  <a:pt x="87313" y="47625"/>
                </a:cubicBezTo>
                <a:lnTo>
                  <a:pt x="39688" y="47625"/>
                </a:lnTo>
                <a:close/>
                <a:moveTo>
                  <a:pt x="190500" y="63500"/>
                </a:moveTo>
                <a:cubicBezTo>
                  <a:pt x="172938" y="63500"/>
                  <a:pt x="158750" y="77688"/>
                  <a:pt x="158750" y="95250"/>
                </a:cubicBezTo>
                <a:cubicBezTo>
                  <a:pt x="158750" y="112812"/>
                  <a:pt x="172938" y="127000"/>
                  <a:pt x="190500" y="127000"/>
                </a:cubicBezTo>
                <a:lnTo>
                  <a:pt x="476250" y="127000"/>
                </a:lnTo>
                <a:cubicBezTo>
                  <a:pt x="493812" y="127000"/>
                  <a:pt x="508000" y="112812"/>
                  <a:pt x="508000" y="95250"/>
                </a:cubicBezTo>
                <a:cubicBezTo>
                  <a:pt x="508000" y="77688"/>
                  <a:pt x="493812" y="63500"/>
                  <a:pt x="476250" y="63500"/>
                </a:cubicBezTo>
                <a:lnTo>
                  <a:pt x="190500" y="63500"/>
                </a:lnTo>
                <a:close/>
                <a:moveTo>
                  <a:pt x="190500" y="222250"/>
                </a:moveTo>
                <a:cubicBezTo>
                  <a:pt x="172938" y="222250"/>
                  <a:pt x="158750" y="236438"/>
                  <a:pt x="158750" y="254000"/>
                </a:cubicBezTo>
                <a:cubicBezTo>
                  <a:pt x="158750" y="271562"/>
                  <a:pt x="172938" y="285750"/>
                  <a:pt x="190500" y="285750"/>
                </a:cubicBezTo>
                <a:lnTo>
                  <a:pt x="476250" y="285750"/>
                </a:lnTo>
                <a:cubicBezTo>
                  <a:pt x="493812" y="285750"/>
                  <a:pt x="508000" y="271562"/>
                  <a:pt x="508000" y="254000"/>
                </a:cubicBezTo>
                <a:cubicBezTo>
                  <a:pt x="508000" y="236438"/>
                  <a:pt x="493812" y="222250"/>
                  <a:pt x="476250" y="222250"/>
                </a:cubicBezTo>
                <a:lnTo>
                  <a:pt x="190500" y="222250"/>
                </a:lnTo>
                <a:close/>
                <a:moveTo>
                  <a:pt x="190500" y="381000"/>
                </a:moveTo>
                <a:cubicBezTo>
                  <a:pt x="172938" y="381000"/>
                  <a:pt x="158750" y="395188"/>
                  <a:pt x="158750" y="412750"/>
                </a:cubicBezTo>
                <a:cubicBezTo>
                  <a:pt x="158750" y="430312"/>
                  <a:pt x="172938" y="444500"/>
                  <a:pt x="190500" y="444500"/>
                </a:cubicBez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ubicBezTo>
                  <a:pt x="508000" y="395188"/>
                  <a:pt x="493812" y="381000"/>
                  <a:pt x="476250" y="381000"/>
                </a:cubicBezTo>
                <a:lnTo>
                  <a:pt x="190500" y="381000"/>
                </a:lnTo>
                <a:close/>
                <a:moveTo>
                  <a:pt x="15875" y="230188"/>
                </a:moveTo>
                <a:lnTo>
                  <a:pt x="15875" y="277813"/>
                </a:lnTo>
                <a:cubicBezTo>
                  <a:pt x="15875" y="291009"/>
                  <a:pt x="26491" y="301625"/>
                  <a:pt x="39688" y="301625"/>
                </a:cubicBezTo>
                <a:lnTo>
                  <a:pt x="87313" y="301625"/>
                </a:lnTo>
                <a:cubicBezTo>
                  <a:pt x="100509" y="301625"/>
                  <a:pt x="111125" y="291009"/>
                  <a:pt x="111125" y="277813"/>
                </a:cubicBezTo>
                <a:lnTo>
                  <a:pt x="111125" y="230188"/>
                </a:lnTo>
                <a:cubicBezTo>
                  <a:pt x="111125" y="216991"/>
                  <a:pt x="100509" y="206375"/>
                  <a:pt x="87313" y="206375"/>
                </a:cubicBezTo>
                <a:lnTo>
                  <a:pt x="39688" y="206375"/>
                </a:lnTo>
                <a:cubicBezTo>
                  <a:pt x="26491" y="206375"/>
                  <a:pt x="15875" y="216991"/>
                  <a:pt x="15875" y="230188"/>
                </a:cubicBezTo>
                <a:close/>
                <a:moveTo>
                  <a:pt x="39688" y="365125"/>
                </a:moveTo>
                <a:cubicBezTo>
                  <a:pt x="26491" y="365125"/>
                  <a:pt x="15875" y="375741"/>
                  <a:pt x="15875" y="388938"/>
                </a:cubicBezTo>
                <a:lnTo>
                  <a:pt x="15875" y="436563"/>
                </a:lnTo>
                <a:cubicBezTo>
                  <a:pt x="15875" y="449759"/>
                  <a:pt x="26491" y="460375"/>
                  <a:pt x="39688" y="460375"/>
                </a:cubicBezTo>
                <a:lnTo>
                  <a:pt x="87313" y="460375"/>
                </a:lnTo>
                <a:cubicBezTo>
                  <a:pt x="100509" y="460375"/>
                  <a:pt x="111125" y="449759"/>
                  <a:pt x="111125" y="436563"/>
                </a:cubicBezTo>
                <a:lnTo>
                  <a:pt x="111125" y="388938"/>
                </a:lnTo>
                <a:cubicBezTo>
                  <a:pt x="111125" y="375741"/>
                  <a:pt x="100509" y="365125"/>
                  <a:pt x="87313" y="365125"/>
                </a:cubicBezTo>
                <a:lnTo>
                  <a:pt x="39688" y="36512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78001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Overwhelming Boards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LinkedIn noise drowns relevant jobs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128000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0000" y="582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8951" y="63500"/>
                  <a:pt x="7342" y="71239"/>
                  <a:pt x="2381" y="83145"/>
                </a:cubicBezTo>
                <a:cubicBezTo>
                  <a:pt x="-2580" y="95052"/>
                  <a:pt x="198" y="108645"/>
                  <a:pt x="9327" y="117673"/>
                </a:cubicBezTo>
                <a:lnTo>
                  <a:pt x="190500" y="298946"/>
                </a:lnTo>
                <a:lnTo>
                  <a:pt x="190500" y="412750"/>
                </a:lnTo>
                <a:cubicBezTo>
                  <a:pt x="190500" y="421184"/>
                  <a:pt x="193873" y="429220"/>
                  <a:pt x="199827" y="435173"/>
                </a:cubicBezTo>
                <a:lnTo>
                  <a:pt x="263327" y="498673"/>
                </a:lnTo>
                <a:cubicBezTo>
                  <a:pt x="272455" y="507802"/>
                  <a:pt x="286048" y="510480"/>
                  <a:pt x="297954" y="505520"/>
                </a:cubicBezTo>
                <a:cubicBezTo>
                  <a:pt x="309860" y="500559"/>
                  <a:pt x="317500" y="489049"/>
                  <a:pt x="317500" y="476250"/>
                </a:cubicBezTo>
                <a:lnTo>
                  <a:pt x="317500" y="298946"/>
                </a:lnTo>
                <a:lnTo>
                  <a:pt x="498673" y="117773"/>
                </a:lnTo>
                <a:cubicBezTo>
                  <a:pt x="507802" y="108645"/>
                  <a:pt x="510480" y="95052"/>
                  <a:pt x="505520" y="83145"/>
                </a:cubicBezTo>
                <a:cubicBezTo>
                  <a:pt x="500559" y="71239"/>
                  <a:pt x="489049" y="63500"/>
                  <a:pt x="476250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1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Filtering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Handshake lacks advanced search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E29C5292-11BA-BDC1-32A0-33F4EBDA9141}"/>
              </a:ext>
            </a:extLst>
          </p:cNvPr>
          <p:cNvSpPr/>
          <p:nvPr/>
        </p:nvSpPr>
        <p:spPr>
          <a:xfrm>
            <a:off x="16586200" y="508000"/>
            <a:ext cx="2032000" cy="2032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1257A0E-94E1-B935-1B2C-A6A5E76A732A}"/>
              </a:ext>
            </a:extLst>
          </p:cNvPr>
          <p:cNvSpPr/>
          <p:nvPr/>
        </p:nvSpPr>
        <p:spPr>
          <a:xfrm>
            <a:off x="-2607920" y="6731000"/>
            <a:ext cx="1524000" cy="152400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3BE48AEA-474F-CDED-0091-BE1A155990E9}"/>
              </a:ext>
            </a:extLst>
          </p:cNvPr>
          <p:cNvSpPr/>
          <p:nvPr/>
        </p:nvSpPr>
        <p:spPr>
          <a:xfrm>
            <a:off x="-1718920" y="1524000"/>
            <a:ext cx="1016000" cy="1016000"/>
          </a:xfrm>
          <a:prstGeom prst="roundRect">
            <a:avLst>
              <a:gd name="adj" fmla="val 150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9F9DBB9-18CB-4A97-0A37-916166E31B19}"/>
              </a:ext>
            </a:extLst>
          </p:cNvPr>
          <p:cNvSpPr/>
          <p:nvPr/>
        </p:nvSpPr>
        <p:spPr>
          <a:xfrm>
            <a:off x="16840200" y="6604000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D3DA56E-1F73-95F6-9902-81083F321A37}"/>
              </a:ext>
            </a:extLst>
          </p:cNvPr>
          <p:cNvSpPr/>
          <p:nvPr/>
        </p:nvSpPr>
        <p:spPr>
          <a:xfrm>
            <a:off x="1270000" y="10703346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DIFFERENTIATORS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Easy Job?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405631"/>
              </p:ext>
            </p:extLst>
          </p:nvPr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LinkedIn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Handshake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chemeClr val="bg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Job</a:t>
                      </a:r>
                      <a:endParaRPr lang="en-US" sz="2400" dirty="0">
                        <a:solidFill>
                          <a:schemeClr val="bg1"/>
                        </a:solidFill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Swipe-to-Match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STEM-Focused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Advanced Filters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Basic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Mutual-Match Alerts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3340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70000" y="558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kern="0" spc="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DIFFERENTIATORS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92225" y="622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78000" y="6106159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Swipe-to-Match Interface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8382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90000" y="6106159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STEM-First Design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2700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778000" y="7249159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Filtering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404225" y="736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90000" y="7249159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Mutual-Match Alerts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E4CFC02-9ED0-15CD-5BAC-99107EB4DA94}"/>
              </a:ext>
            </a:extLst>
          </p:cNvPr>
          <p:cNvSpPr/>
          <p:nvPr/>
        </p:nvSpPr>
        <p:spPr>
          <a:xfrm>
            <a:off x="-11999865" y="1311730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9C71E64-AF83-5380-9B3F-E17AE44B0525}"/>
              </a:ext>
            </a:extLst>
          </p:cNvPr>
          <p:cNvSpPr/>
          <p:nvPr/>
        </p:nvSpPr>
        <p:spPr>
          <a:xfrm>
            <a:off x="-10983864" y="2798082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Time-Consuming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Lengthy applications drain candidate energy</a:t>
            </a:r>
            <a:endParaRPr lang="en-US" sz="28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B0A7805-8DCC-96AC-4368-8C3AF9011472}"/>
              </a:ext>
            </a:extLst>
          </p:cNvPr>
          <p:cNvSpPr/>
          <p:nvPr/>
        </p:nvSpPr>
        <p:spPr>
          <a:xfrm>
            <a:off x="20721990" y="1311730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7F647139-DB83-A9E5-4211-43F6D5E8D4C9}"/>
              </a:ext>
            </a:extLst>
          </p:cNvPr>
          <p:cNvSpPr/>
          <p:nvPr/>
        </p:nvSpPr>
        <p:spPr>
          <a:xfrm>
            <a:off x="21737991" y="2798082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Mismatched Roles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Expectations misaligned with reality</a:t>
            </a:r>
            <a:endParaRPr lang="en-US" sz="28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6A64DB96-D49D-4423-8831-4D0FACB121F3}"/>
              </a:ext>
            </a:extLst>
          </p:cNvPr>
          <p:cNvSpPr/>
          <p:nvPr/>
        </p:nvSpPr>
        <p:spPr>
          <a:xfrm>
            <a:off x="-11999865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D224652-D88B-FD4F-023B-8D3EAA57A4BC}"/>
              </a:ext>
            </a:extLst>
          </p:cNvPr>
          <p:cNvSpPr/>
          <p:nvPr/>
        </p:nvSpPr>
        <p:spPr>
          <a:xfrm>
            <a:off x="-10983864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Overwhelming Boards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LinkedIn noise drowns relevant jobs</a:t>
            </a:r>
            <a:endParaRPr lang="en-US" sz="28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A1B59351-C3A6-726F-7D1D-CF1069DA261B}"/>
              </a:ext>
            </a:extLst>
          </p:cNvPr>
          <p:cNvSpPr/>
          <p:nvPr/>
        </p:nvSpPr>
        <p:spPr>
          <a:xfrm>
            <a:off x="20721990" y="5037365"/>
            <a:ext cx="7112000" cy="30951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6ECC606E-1395-834B-E9CF-394CB51C6D63}"/>
              </a:ext>
            </a:extLst>
          </p:cNvPr>
          <p:cNvSpPr/>
          <p:nvPr/>
        </p:nvSpPr>
        <p:spPr>
          <a:xfrm>
            <a:off x="21737991" y="6523717"/>
            <a:ext cx="54065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Filtering</a:t>
            </a:r>
            <a:endParaRPr lang="en-US" sz="28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Handshake lacks advanced search</a:t>
            </a:r>
            <a:endParaRPr lang="en-US" sz="2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109A906-96DE-6D08-79DF-C9B576E6C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17" y="11291675"/>
            <a:ext cx="11568966" cy="7472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2EA75FB-0B9C-D541-952A-E3ACCC70E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497210"/>
              </p:ext>
            </p:extLst>
          </p:nvPr>
        </p:nvGraphicFramePr>
        <p:xfrm>
          <a:off x="2769576" y="2366174"/>
          <a:ext cx="10716848" cy="2586825"/>
        </p:xfrm>
        <a:graphic>
          <a:graphicData uri="http://schemas.openxmlformats.org/drawingml/2006/table">
            <a:tbl>
              <a:tblPr/>
              <a:tblGrid>
                <a:gridCol w="267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365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LinkedIn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Handshake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chemeClr val="bg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Job</a:t>
                      </a:r>
                      <a:endParaRPr lang="en-US" sz="1800" dirty="0">
                        <a:solidFill>
                          <a:schemeClr val="bg1"/>
                        </a:solidFill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36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Swipe-to-Match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36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STEM-Focused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36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Advanced Filters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Basic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36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Mutual-Match Alerts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6519" marR="66519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&amp; Role-Based Login/Signup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00C05F-7150-498B-CDC1-150C9AA5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17" y="1290342"/>
            <a:ext cx="11568966" cy="7472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8124F-BB2B-F022-31B5-386130955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84" y="11491435"/>
            <a:ext cx="10143632" cy="747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Profile Management &amp; Job Posting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BE4FB5-AB80-B44D-47FC-50CD24A3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17" y="-9420670"/>
            <a:ext cx="11568966" cy="74726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ED4D13-E4BD-67AA-42EB-AC17EF64A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52" y="9953752"/>
            <a:ext cx="14621696" cy="7470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EF4059-A0BE-400D-1496-C9F5736C6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184" y="1292352"/>
            <a:ext cx="10143632" cy="747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Job Discovery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306ED5-799D-5AD9-E41F-8ED9AD2F9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52" y="1355852"/>
            <a:ext cx="14621696" cy="74706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5A1AEF-E586-D034-17A3-98239F03FB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4" r="1818"/>
          <a:stretch>
            <a:fillRect/>
          </a:stretch>
        </p:blipFill>
        <p:spPr>
          <a:xfrm>
            <a:off x="166711" y="12376550"/>
            <a:ext cx="15922579" cy="7470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08626F-C91F-B481-EC9C-BB3925108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184" y="-13150498"/>
            <a:ext cx="10143632" cy="747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Job Matchmaking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3DE921FB-F580-3FB4-D70C-27300A6C60D9}"/>
              </a:ext>
            </a:extLst>
          </p:cNvPr>
          <p:cNvSpPr/>
          <p:nvPr/>
        </p:nvSpPr>
        <p:spPr>
          <a:xfrm>
            <a:off x="3905250" y="2628079"/>
            <a:ext cx="8445500" cy="388784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21CA86-EB4A-FEAA-F253-E8762AF6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4" r="1818"/>
          <a:stretch>
            <a:fillRect/>
          </a:stretch>
        </p:blipFill>
        <p:spPr>
          <a:xfrm>
            <a:off x="166711" y="1292352"/>
            <a:ext cx="15922579" cy="7470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35BCD3-3C3A-CCD5-3E9B-B8511EC3A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52" y="-8499348"/>
            <a:ext cx="14621696" cy="747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79500"/>
            <a:ext cx="1016000" cy="0"/>
          </a:xfrm>
          <a:prstGeom prst="straightConnector1">
            <a:avLst/>
          </a:prstGeom>
          <a:noFill/>
          <a:ln w="38100">
            <a:solidFill>
              <a:srgbClr val="3B82F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473200"/>
            <a:ext cx="14732000" cy="678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70000" y="1708404"/>
            <a:ext cx="13716000" cy="4067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spcBef>
                <a:spcPts val="10"/>
              </a:spcBef>
              <a:buSzPct val="100000"/>
              <a:buChar char="•"/>
            </a:pPr>
            <a:r>
              <a:rPr lang="en-US" sz="33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Easy Job simplifies the STEM hiring pipeline from discovery to match</a:t>
            </a:r>
            <a:endParaRPr lang="en-US" sz="3300" dirty="0"/>
          </a:p>
          <a:p>
            <a:pPr marL="285750" indent="-285750">
              <a:lnSpc>
                <a:spcPct val="200000"/>
              </a:lnSpc>
              <a:spcBef>
                <a:spcPts val="10"/>
              </a:spcBef>
              <a:buSzPct val="100000"/>
              <a:buChar char="•"/>
            </a:pPr>
            <a:r>
              <a:rPr lang="en-US" sz="33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Java + JavaFX proves robust desktop apps need no heavy frameworks</a:t>
            </a:r>
            <a:endParaRPr lang="en-US" sz="3300" dirty="0"/>
          </a:p>
          <a:p>
            <a:pPr marL="285750" indent="-285750">
              <a:lnSpc>
                <a:spcPct val="200000"/>
              </a:lnSpc>
              <a:spcBef>
                <a:spcPts val="10"/>
              </a:spcBef>
              <a:buSzPct val="100000"/>
              <a:buChar char="•"/>
            </a:pPr>
            <a:r>
              <a:rPr lang="en-US" sz="33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 architecture enables smooth migration to database + mobile</a:t>
            </a:r>
            <a:endParaRPr lang="en-US" sz="3300" dirty="0"/>
          </a:p>
          <a:p>
            <a:pPr marL="285750" indent="-285750">
              <a:lnSpc>
                <a:spcPct val="200000"/>
              </a:lnSpc>
              <a:spcBef>
                <a:spcPts val="10"/>
              </a:spcBef>
              <a:buSzPct val="100000"/>
              <a:buChar char="•"/>
            </a:pPr>
            <a:r>
              <a:rPr lang="en-US" sz="33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AI matching will elevate precision beyond keyword filtering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270000" y="6357981"/>
            <a:ext cx="13716000" cy="45719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1270000" y="6611982"/>
            <a:ext cx="13716000" cy="1452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i="1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Easy Job bridges the gap between STEM talent and opportunity.</a:t>
            </a:r>
            <a:endParaRPr lang="en-US" sz="3200" dirty="0"/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lang="en-US" sz="3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263807-D033-D12E-5501-587A4DC8C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4" r="1818"/>
          <a:stretch>
            <a:fillRect/>
          </a:stretch>
        </p:blipFill>
        <p:spPr>
          <a:xfrm>
            <a:off x="166711" y="-10165034"/>
            <a:ext cx="15922579" cy="7470648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58426C13-52A7-433D-D6A1-41EF7C996C4C}"/>
              </a:ext>
            </a:extLst>
          </p:cNvPr>
          <p:cNvSpPr/>
          <p:nvPr/>
        </p:nvSpPr>
        <p:spPr>
          <a:xfrm>
            <a:off x="-8273792" y="1270000"/>
            <a:ext cx="1270000" cy="1270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D3F316A-8059-C238-83D2-A98B74AA7523}"/>
              </a:ext>
            </a:extLst>
          </p:cNvPr>
          <p:cNvSpPr/>
          <p:nvPr/>
        </p:nvSpPr>
        <p:spPr>
          <a:xfrm>
            <a:off x="20925962" y="6857999"/>
            <a:ext cx="1016000" cy="1693331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40000" y="1270000"/>
            <a:ext cx="1270000" cy="12700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92000" y="6857999"/>
            <a:ext cx="1016000" cy="1693331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3048000" y="2793999"/>
            <a:ext cx="10160000" cy="1693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kern="0" spc="1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318000" y="4275671"/>
            <a:ext cx="7620000" cy="761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Thank you for your time.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276</Words>
  <Application>Microsoft Office PowerPoint</Application>
  <PresentationFormat>Custom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Liter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Job: A STEM-Focused Job Matchmaking Platform</dc:title>
  <dc:subject>Easy Job: A STEM-Focused Job Matchmaking Platform</dc:subject>
  <dc:creator>Kimi</dc:creator>
  <cp:lastModifiedBy>Jawad Zaman</cp:lastModifiedBy>
  <cp:revision>5</cp:revision>
  <dcterms:created xsi:type="dcterms:W3CDTF">2026-05-02T05:55:25Z</dcterms:created>
  <dcterms:modified xsi:type="dcterms:W3CDTF">2026-05-05T18:44:09Z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{"Label":"Easy Job: A STEM-Focused Job Matchmaking Platform","ContentProducer":"001191110108MACG2KBH8F10000","ProduceID":"19de7243-7112-8c29-8000-000059748120","ReservedCode1":"","ContentPropagator":"001191110108MACG2KBH8F20000","PropagateID":"19de7243-7112-8c29-8000-000059748120","ReservedCode2":""}</vt:lpwstr>
  </property>
</Properties>
</file>